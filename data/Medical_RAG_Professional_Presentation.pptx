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Aptos"/>
              </a:defRPr>
            </a:pPr>
            <a:r>
              <a:t>MEDICAL RAG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2331720"/>
            <a:ext cx="9875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B9E1E1"/>
                </a:solidFill>
                <a:latin typeface="Aptos"/>
              </a:defRPr>
            </a:pPr>
            <a:r>
              <a:t>AI-Powered Medical Document Question Answering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29718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ptos"/>
              </a:defRPr>
            </a:pPr>
            <a:r>
              <a:t>Retrieval-Augmented Generation • PDF Knowledge Base • Safety Gates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516636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Aptos"/>
              </a:defRPr>
            </a:pPr>
            <a:r>
              <a:t>Presented by: ____________________</a:t>
            </a:r>
          </a:p>
        </p:txBody>
      </p:sp>
      <p:sp>
        <p:nvSpPr>
          <p:cNvPr id="7" name="Oval 6"/>
          <p:cNvSpPr/>
          <p:nvPr/>
        </p:nvSpPr>
        <p:spPr>
          <a:xfrm>
            <a:off x="9784080" y="822960"/>
            <a:ext cx="1188720" cy="1188720"/>
          </a:xfrm>
          <a:prstGeom prst="ellipse">
            <a:avLst/>
          </a:prstGeom>
          <a:solidFill>
            <a:srgbClr val="189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F2337"/>
                </a:solidFill>
                <a:latin typeface="Aptos"/>
              </a:defRPr>
            </a:pPr>
            <a:r>
              <a:t>01 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601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5A6973"/>
                </a:solidFill>
                <a:latin typeface="Aptos"/>
              </a:defRPr>
            </a:pPr>
            <a:r>
              <a:t>Why do we need a medical document-based QA system?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33832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C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91639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1">
                <a:solidFill>
                  <a:srgbClr val="189791"/>
                </a:solidFill>
                <a:latin typeface="Aptos"/>
              </a:defRPr>
            </a:pPr>
            <a:r>
              <a:t>Large Medical Documents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103120"/>
            <a:ext cx="2926080" cy="2651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1E2D37"/>
                </a:solidFill>
                <a:latin typeface="Aptos"/>
              </a:defRPr>
            </a:pPr>
            <a:r>
              <a:t>Medical PDFs can contain hundreds or thousands of pages, making manual search slow and inefficient.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508760"/>
            <a:ext cx="33832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C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691639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1">
                <a:solidFill>
                  <a:srgbClr val="189791"/>
                </a:solidFill>
                <a:latin typeface="Aptos"/>
              </a:defRPr>
            </a:pPr>
            <a:r>
              <a:t>Information Retrieval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2103120"/>
            <a:ext cx="2926080" cy="2651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1E2D37"/>
                </a:solidFill>
                <a:latin typeface="Aptos"/>
              </a:defRPr>
            </a:pPr>
            <a:r>
              <a:t>Finding the exact evidence needed for a question can take significant time.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508760"/>
            <a:ext cx="33832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C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691639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1">
                <a:solidFill>
                  <a:srgbClr val="189791"/>
                </a:solidFill>
                <a:latin typeface="Aptos"/>
              </a:defRPr>
            </a:pPr>
            <a:r>
              <a:t>Hallucination Risk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2103120"/>
            <a:ext cx="2926080" cy="2651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1E2D37"/>
                </a:solidFill>
                <a:latin typeface="Aptos"/>
              </a:defRPr>
            </a:pPr>
            <a:r>
              <a:t>A general-purpose LLM may produce an answer that is not supported by the provided medical documents.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F2337"/>
                </a:solidFill>
                <a:latin typeface="Aptos"/>
              </a:defRPr>
            </a:pPr>
            <a:r>
              <a:t>02  Project 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601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5A6973"/>
                </a:solidFill>
                <a:latin typeface="Aptos"/>
              </a:defRPr>
            </a:pPr>
            <a:r>
              <a:t>A controlled question-answering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058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E2D37"/>
                </a:solidFill>
                <a:latin typeface="Aptos"/>
              </a:defRPr>
            </a:pPr>
            <a:r>
              <a:t>• Answer user questions using information retrieved from medical PDF files.</a:t>
            </a:r>
          </a:p>
          <a:p>
            <a:pPr>
              <a:spcAft>
                <a:spcPts val="1200"/>
              </a:spcAft>
              <a:defRPr sz="2000">
                <a:solidFill>
                  <a:srgbClr val="1E2D37"/>
                </a:solidFill>
                <a:latin typeface="Aptos"/>
              </a:defRPr>
            </a:pPr>
            <a:r>
              <a:t>• Convert documents and questions into semantic vector representations.</a:t>
            </a:r>
          </a:p>
          <a:p>
            <a:pPr>
              <a:spcAft>
                <a:spcPts val="1200"/>
              </a:spcAft>
              <a:defRPr sz="2000">
                <a:solidFill>
                  <a:srgbClr val="1E2D37"/>
                </a:solidFill>
                <a:latin typeface="Aptos"/>
              </a:defRPr>
            </a:pPr>
            <a:r>
              <a:t>• Retrieve the most relevant document chunks using similarity search.</a:t>
            </a:r>
          </a:p>
          <a:p>
            <a:pPr>
              <a:spcAft>
                <a:spcPts val="1200"/>
              </a:spcAft>
              <a:defRPr sz="2000">
                <a:solidFill>
                  <a:srgbClr val="1E2D37"/>
                </a:solidFill>
                <a:latin typeface="Aptos"/>
              </a:defRPr>
            </a:pPr>
            <a:r>
              <a:t>• Refuse when relevant or sufficient evidence is unavailable.</a:t>
            </a:r>
          </a:p>
          <a:p>
            <a:pPr>
              <a:spcAft>
                <a:spcPts val="1200"/>
              </a:spcAft>
              <a:defRPr sz="2000">
                <a:solidFill>
                  <a:srgbClr val="1E2D37"/>
                </a:solidFill>
                <a:latin typeface="Aptos"/>
              </a:defRPr>
            </a:pPr>
            <a:r>
              <a:t>• Generate the final response from retrieved context.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F2337"/>
                </a:solidFill>
                <a:latin typeface="Aptos"/>
              </a:defRPr>
            </a:pPr>
            <a:r>
              <a:t>03 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601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5A6973"/>
                </a:solidFill>
                <a:latin typeface="Aptos"/>
              </a:defRPr>
            </a:pPr>
            <a:r>
              <a:t>End-to-end Medical RAG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17320"/>
            <a:ext cx="1170432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189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6072" y="1673352"/>
            <a:ext cx="102412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F2337"/>
                </a:solidFill>
                <a:latin typeface="Aptos"/>
              </a:defRPr>
            </a:pPr>
            <a:r>
              <a:t>Medical PDFs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72" y="2240280"/>
            <a:ext cx="102412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5A6973"/>
                </a:solidFill>
                <a:latin typeface="Aptos"/>
              </a:defRPr>
            </a:pPr>
            <a:r>
              <a:t>Files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73352" y="1920240"/>
            <a:ext cx="16459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89791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19656" y="1417320"/>
            <a:ext cx="1170432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189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92807" y="1673352"/>
            <a:ext cx="102412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F2337"/>
                </a:solidFill>
                <a:latin typeface="Aptos"/>
              </a:defRPr>
            </a:pPr>
            <a:r>
              <a:t>PyMuPDF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92807" y="2240280"/>
            <a:ext cx="102412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5A6973"/>
                </a:solidFill>
                <a:latin typeface="Aptos"/>
              </a:defRPr>
            </a:pPr>
            <a:r>
              <a:t>Ingestion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90088" y="1920240"/>
            <a:ext cx="16459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89791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36391" y="1417320"/>
            <a:ext cx="1170432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189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9544" y="1673352"/>
            <a:ext cx="102412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F2337"/>
                </a:solidFill>
                <a:latin typeface="Aptos"/>
              </a:defRPr>
            </a:pPr>
            <a:r>
              <a:t>Cleaning &amp; Chunking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9544" y="2240280"/>
            <a:ext cx="102412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5A6973"/>
                </a:solidFill>
                <a:latin typeface="Aptos"/>
              </a:defRPr>
            </a:pPr>
            <a:r>
              <a:t>Processing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06824" y="1920240"/>
            <a:ext cx="16459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89791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53128" y="1417320"/>
            <a:ext cx="1170432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189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6280" y="1673352"/>
            <a:ext cx="102412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F2337"/>
                </a:solidFill>
                <a:latin typeface="Aptos"/>
              </a:defRPr>
            </a:pPr>
            <a:r>
              <a:t>nomic-embed-text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2240280"/>
            <a:ext cx="102412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5A6973"/>
                </a:solidFill>
                <a:latin typeface="Aptos"/>
              </a:defRPr>
            </a:pPr>
            <a:r>
              <a:t>Embeddings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23560" y="1920240"/>
            <a:ext cx="16459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89791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69864" y="1417320"/>
            <a:ext cx="1170432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189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43016" y="1673352"/>
            <a:ext cx="102412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F2337"/>
                </a:solidFill>
                <a:latin typeface="Aptos"/>
              </a:defRPr>
            </a:pPr>
            <a:r>
              <a:t>ChromaDB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43016" y="2240280"/>
            <a:ext cx="102412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5A6973"/>
                </a:solidFill>
                <a:latin typeface="Aptos"/>
              </a:defRPr>
            </a:pPr>
            <a:r>
              <a:t>Vector DB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6" y="1920240"/>
            <a:ext cx="16459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89791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086599" y="1417320"/>
            <a:ext cx="1170432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189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59751" y="1673352"/>
            <a:ext cx="102412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F2337"/>
                </a:solidFill>
                <a:latin typeface="Aptos"/>
              </a:defRPr>
            </a:pPr>
            <a:r>
              <a:t>Similarity Retrieval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59751" y="2240280"/>
            <a:ext cx="102412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5A6973"/>
                </a:solidFill>
                <a:latin typeface="Aptos"/>
              </a:defRPr>
            </a:pPr>
            <a:r>
              <a:t>Top-K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57031" y="1920240"/>
            <a:ext cx="16459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89791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403336" y="1417320"/>
            <a:ext cx="1170432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189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76488" y="1673352"/>
            <a:ext cx="102412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F2337"/>
                </a:solidFill>
                <a:latin typeface="Aptos"/>
              </a:defRPr>
            </a:pPr>
            <a:r>
              <a:t>Safety Gates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76488" y="2240280"/>
            <a:ext cx="102412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5A6973"/>
                </a:solidFill>
                <a:latin typeface="Aptos"/>
              </a:defRPr>
            </a:pPr>
            <a:r>
              <a:t>Validation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73768" y="1920240"/>
            <a:ext cx="16459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89791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720072" y="1417320"/>
            <a:ext cx="1170432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189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793224" y="1673352"/>
            <a:ext cx="102412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F2337"/>
                </a:solidFill>
                <a:latin typeface="Aptos"/>
              </a:defRPr>
            </a:pPr>
            <a:r>
              <a:t>LLM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93224" y="2240280"/>
            <a:ext cx="102412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5A6973"/>
                </a:solidFill>
                <a:latin typeface="Aptos"/>
              </a:defRPr>
            </a:pPr>
            <a:r>
              <a:t>Generation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90504" y="1920240"/>
            <a:ext cx="16459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89791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1036808" y="1417320"/>
            <a:ext cx="1170432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189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109960" y="1673352"/>
            <a:ext cx="102412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F2337"/>
                </a:solidFill>
                <a:latin typeface="Aptos"/>
              </a:defRPr>
            </a:pPr>
            <a:r>
              <a:t>Final Answer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09960" y="2240280"/>
            <a:ext cx="102412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5A6973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" y="3794760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0F2337"/>
                </a:solidFill>
                <a:latin typeface="Aptos"/>
              </a:defRPr>
            </a:pPr>
            <a:r>
              <a:t>USER QUESTION → Query Embedding → Similarity Retrieval → Gate 1 → Gate 2 → LLM → FINAL ANSWER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926080" y="4617720"/>
            <a:ext cx="63093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C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154680" y="4800600"/>
            <a:ext cx="5852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1">
                <a:solidFill>
                  <a:srgbClr val="189791"/>
                </a:solidFill>
                <a:latin typeface="Aptos"/>
              </a:defRPr>
            </a:pPr>
            <a:r>
              <a:t>Key Principle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154680" y="5212080"/>
            <a:ext cx="5852160" cy="320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1E2D37"/>
                </a:solidFill>
                <a:latin typeface="Aptos"/>
              </a:defRPr>
            </a:pPr>
            <a:r>
              <a:t>The LLM answers from retrieved evidence rather than relying only on its general knowledge.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F2337"/>
                </a:solidFill>
                <a:latin typeface="Aptos"/>
              </a:defRPr>
            </a:pPr>
            <a:r>
              <a:t>04  PDF Processing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601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5A6973"/>
                </a:solidFill>
                <a:latin typeface="Aptos"/>
              </a:defRPr>
            </a:pPr>
            <a:r>
              <a:t>Turning raw medical PDFs into searchable knowledge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34290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2971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1">
                <a:solidFill>
                  <a:srgbClr val="189791"/>
                </a:solidFill>
                <a:latin typeface="Aptos"/>
              </a:defRPr>
            </a:pPr>
            <a:r>
              <a:t>PDF Ingestion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29718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1E2D37"/>
                </a:solidFill>
                <a:latin typeface="Aptos"/>
              </a:defRPr>
            </a:pPr>
            <a:r>
              <a:t>PyMuPDF extracts text from pages.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417320"/>
            <a:ext cx="34290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60" y="1600200"/>
            <a:ext cx="2971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1">
                <a:solidFill>
                  <a:srgbClr val="189791"/>
                </a:solidFill>
                <a:latin typeface="Aptos"/>
              </a:defRPr>
            </a:pPr>
            <a:r>
              <a:t>Cleaning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2011680"/>
            <a:ext cx="29718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1E2D37"/>
                </a:solidFill>
                <a:latin typeface="Aptos"/>
              </a:defRPr>
            </a:pPr>
            <a:r>
              <a:t>Remove noise and normalize extracted content.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417320"/>
            <a:ext cx="34290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0" y="1600200"/>
            <a:ext cx="2971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1">
                <a:solidFill>
                  <a:srgbClr val="189791"/>
                </a:solidFill>
                <a:latin typeface="Aptos"/>
              </a:defRPr>
            </a:pPr>
            <a:r>
              <a:t>Chunking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011680"/>
            <a:ext cx="29718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1E2D37"/>
                </a:solidFill>
                <a:latin typeface="Aptos"/>
              </a:defRPr>
            </a:pPr>
            <a:r>
              <a:t>Split documents into manageable semantic sections.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566160"/>
            <a:ext cx="34290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749040"/>
            <a:ext cx="2971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1">
                <a:solidFill>
                  <a:srgbClr val="189791"/>
                </a:solidFill>
                <a:latin typeface="Aptos"/>
              </a:defRPr>
            </a:pPr>
            <a:r>
              <a:t>Embeddings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160520"/>
            <a:ext cx="29718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1E2D37"/>
                </a:solidFill>
                <a:latin typeface="Aptos"/>
              </a:defRPr>
            </a:pPr>
            <a:r>
              <a:t>nomic-embed-text converts chunks into vectors.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80560" y="3566160"/>
            <a:ext cx="34290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09160" y="3749040"/>
            <a:ext cx="2971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1">
                <a:solidFill>
                  <a:srgbClr val="189791"/>
                </a:solidFill>
                <a:latin typeface="Aptos"/>
              </a:defRPr>
            </a:pPr>
            <a:r>
              <a:t>Storage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4160520"/>
            <a:ext cx="29718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1E2D37"/>
                </a:solidFill>
                <a:latin typeface="Aptos"/>
              </a:defRPr>
            </a:pPr>
            <a:r>
              <a:t>Vectors and metadata are stored in ChromaDB.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F2337"/>
                </a:solidFill>
                <a:latin typeface="Aptos"/>
              </a:defRPr>
            </a:pPr>
            <a:r>
              <a:t>05  Vector Database &amp; Retrieval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601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5A6973"/>
                </a:solidFill>
                <a:latin typeface="Aptos"/>
              </a:defRPr>
            </a:pPr>
            <a:r>
              <a:t>Semantic search instead of simple keyword matching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32918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2834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1">
                <a:solidFill>
                  <a:srgbClr val="189791"/>
                </a:solidFill>
                <a:latin typeface="Aptos"/>
              </a:defRPr>
            </a:pPr>
            <a:r>
              <a:t>Document Embeddings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283464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1E2D37"/>
                </a:solidFill>
                <a:latin typeface="Aptos"/>
              </a:defRPr>
            </a:pPr>
            <a:r>
              <a:t>Each chunk is converted into a numerical vector representing its semantic meaning.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417320"/>
            <a:ext cx="32918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600200"/>
            <a:ext cx="2834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1">
                <a:solidFill>
                  <a:srgbClr val="189791"/>
                </a:solidFill>
                <a:latin typeface="Aptos"/>
              </a:defRPr>
            </a:pPr>
            <a:r>
              <a:t>Query Embedding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011680"/>
            <a:ext cx="283464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1E2D37"/>
                </a:solidFill>
                <a:latin typeface="Aptos"/>
              </a:defRPr>
            </a:pPr>
            <a:r>
              <a:t>The user's question is converted using the same embedding model.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1417320"/>
            <a:ext cx="32918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1600200"/>
            <a:ext cx="2834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1">
                <a:solidFill>
                  <a:srgbClr val="189791"/>
                </a:solidFill>
                <a:latin typeface="Aptos"/>
              </a:defRPr>
            </a:pPr>
            <a:r>
              <a:t>Similarity Search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011680"/>
            <a:ext cx="283464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1E2D37"/>
                </a:solidFill>
                <a:latin typeface="Aptos"/>
              </a:defRPr>
            </a:pPr>
            <a:r>
              <a:t>ChromaDB compares vectors and returns the Top-K most relevant chunks.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06908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89791"/>
                </a:solidFill>
                <a:latin typeface="Aptos"/>
              </a:defRPr>
            </a:pPr>
            <a:r>
              <a:t>TOP-K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48840" y="4050791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1E2D37"/>
                </a:solidFill>
                <a:latin typeface="Aptos"/>
              </a:defRPr>
            </a:pPr>
            <a:r>
              <a:t>The system retrieves the strongest evidence before the LLM generates an answer.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F2337"/>
                </a:solidFill>
                <a:latin typeface="Aptos"/>
              </a:defRPr>
            </a:pPr>
            <a:r>
              <a:t>06  Safety Gates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601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5A6973"/>
                </a:solidFill>
                <a:latin typeface="Aptos"/>
              </a:defRPr>
            </a:pPr>
            <a:r>
              <a:t>Two validation layers before generation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17320"/>
            <a:ext cx="489204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C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600200"/>
            <a:ext cx="4434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1">
                <a:solidFill>
                  <a:srgbClr val="189791"/>
                </a:solidFill>
                <a:latin typeface="Aptos"/>
              </a:defRPr>
            </a:pPr>
            <a:r>
              <a:t>GATE 1  •  Relevant Context?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011680"/>
            <a:ext cx="4434840" cy="2651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1E2D37"/>
                </a:solidFill>
                <a:latin typeface="Aptos"/>
              </a:defRPr>
            </a:pPr>
            <a:r>
              <a:t>Does the retrieved context actually relate to the user's question?</a:t>
            </a:r>
            <a:br/>
            <a:br/>
            <a:r>
              <a:t>NO → REFUSE</a:t>
            </a:r>
            <a:br/>
            <a:r>
              <a:t>YES → Continue to Gate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46520" y="1417320"/>
            <a:ext cx="489204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C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600200"/>
            <a:ext cx="4434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1">
                <a:solidFill>
                  <a:srgbClr val="2D9664"/>
                </a:solidFill>
                <a:latin typeface="Aptos"/>
              </a:defRPr>
            </a:pPr>
            <a:r>
              <a:t>GATE 2  •  Answerable?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011680"/>
            <a:ext cx="4434840" cy="2651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1E2D37"/>
                </a:solidFill>
                <a:latin typeface="Aptos"/>
              </a:defRPr>
            </a:pPr>
            <a:r>
              <a:t>Does the retrieved context contain enough information to answer safely?</a:t>
            </a:r>
            <a:br/>
            <a:br/>
            <a:r>
              <a:t>NO → REFUSE</a:t>
            </a:r>
            <a:br/>
            <a:r>
              <a:t>YES → Send context to the LLM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525780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BE4141"/>
                </a:solidFill>
                <a:latin typeface="Aptos"/>
              </a:defRPr>
            </a:pPr>
            <a:r>
              <a:t>REFUSE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F2337"/>
                </a:solidFill>
                <a:latin typeface="Aptos"/>
              </a:defRPr>
            </a:pPr>
            <a:r>
              <a:t>07  LLM Answer Generation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601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5A6973"/>
                </a:solidFill>
                <a:latin typeface="Aptos"/>
              </a:defRPr>
            </a:pPr>
            <a:r>
              <a:t>Grounded generation using retrieved context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0292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544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1">
                <a:solidFill>
                  <a:srgbClr val="189791"/>
                </a:solidFill>
                <a:latin typeface="Aptos"/>
              </a:defRPr>
            </a:pPr>
            <a:r>
              <a:t>1. User 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965960"/>
            <a:ext cx="45720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1E2D37"/>
                </a:solidFill>
                <a:latin typeface="Aptos"/>
              </a:defRPr>
            </a:pPr>
            <a:r>
              <a:t>The original question.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371600"/>
            <a:ext cx="50292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5544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1">
                <a:solidFill>
                  <a:srgbClr val="189791"/>
                </a:solidFill>
                <a:latin typeface="Aptos"/>
              </a:defRPr>
            </a:pPr>
            <a:r>
              <a:t>2. Retrieved Context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965960"/>
            <a:ext cx="45720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1E2D37"/>
                </a:solidFill>
                <a:latin typeface="Aptos"/>
              </a:defRPr>
            </a:pPr>
            <a:r>
              <a:t>Top-K relevant medical chunks.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520440"/>
            <a:ext cx="50292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7033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1">
                <a:solidFill>
                  <a:srgbClr val="189791"/>
                </a:solidFill>
                <a:latin typeface="Aptos"/>
              </a:defRPr>
            </a:pPr>
            <a:r>
              <a:t>3. LLM Prompt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114800"/>
            <a:ext cx="45720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1E2D37"/>
                </a:solidFill>
                <a:latin typeface="Aptos"/>
              </a:defRPr>
            </a:pPr>
            <a:r>
              <a:t>Instructions to answer using the supplied evidence.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3520440"/>
            <a:ext cx="50292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37033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1">
                <a:solidFill>
                  <a:srgbClr val="189791"/>
                </a:solidFill>
                <a:latin typeface="Aptos"/>
              </a:defRPr>
            </a:pPr>
            <a:r>
              <a:t>4. Final Answer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4114800"/>
            <a:ext cx="45720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1E2D37"/>
                </a:solidFill>
                <a:latin typeface="Aptos"/>
              </a:defRPr>
            </a:pPr>
            <a:r>
              <a:t>A concise response grounded in the retrieved context.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5486400"/>
            <a:ext cx="9784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F2337"/>
                </a:solidFill>
                <a:latin typeface="Aptos"/>
              </a:defRPr>
            </a:pPr>
            <a:r>
              <a:t>Question  +  Retrieved Evidence  →  LLM  →  Grounded Answer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F2337"/>
                </a:solidFill>
                <a:latin typeface="Aptos"/>
              </a:defRPr>
            </a:pPr>
            <a:r>
              <a:t>08  Web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601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5A6973"/>
                </a:solidFill>
                <a:latin typeface="Aptos"/>
              </a:defRPr>
            </a:pPr>
            <a:r>
              <a:t>Flask-based chat interface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33832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C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0020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1">
                <a:solidFill>
                  <a:srgbClr val="189791"/>
                </a:solidFill>
                <a:latin typeface="Aptos"/>
              </a:defRPr>
            </a:pPr>
            <a:r>
              <a:t>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011680"/>
            <a:ext cx="292608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1E2D37"/>
                </a:solidFill>
                <a:latin typeface="Aptos"/>
              </a:defRPr>
            </a:pPr>
            <a:r>
              <a:t>Simple chat interface</a:t>
            </a:r>
            <a:br/>
            <a:br/>
            <a:r>
              <a:t>• User enters a question</a:t>
            </a:r>
            <a:br/>
            <a:r>
              <a:t>• Response appears in the conversation</a:t>
            </a:r>
            <a:br/>
            <a:r>
              <a:t>• Clean and user-friendly experience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17320"/>
            <a:ext cx="33832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C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60020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1">
                <a:solidFill>
                  <a:srgbClr val="189791"/>
                </a:solidFill>
                <a:latin typeface="Aptos"/>
              </a:defRPr>
            </a:pPr>
            <a:r>
              <a:t>Backend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2011680"/>
            <a:ext cx="292608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1E2D37"/>
                </a:solidFill>
                <a:latin typeface="Aptos"/>
              </a:defRPr>
            </a:pPr>
            <a:r>
              <a:t>Flask handles requests</a:t>
            </a:r>
            <a:br/>
            <a:br/>
            <a:r>
              <a:t>• Query embedding</a:t>
            </a:r>
            <a:br/>
            <a:r>
              <a:t>• Retrieval</a:t>
            </a:r>
            <a:br/>
            <a:r>
              <a:t>• Gate validation</a:t>
            </a:r>
            <a:br/>
            <a:r>
              <a:t>• LLM generation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417320"/>
            <a:ext cx="33832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C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60020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1">
                <a:solidFill>
                  <a:srgbClr val="189791"/>
                </a:solidFill>
                <a:latin typeface="Aptos"/>
              </a:defRPr>
            </a:pPr>
            <a:r>
              <a:t>Knowledge 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2011680"/>
            <a:ext cx="292608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1E2D37"/>
                </a:solidFill>
                <a:latin typeface="Aptos"/>
              </a:defRPr>
            </a:pPr>
            <a:r>
              <a:t>Medical PDF knowledge base</a:t>
            </a:r>
            <a:br/>
            <a:br/>
            <a:r>
              <a:t>• PyMuPDF</a:t>
            </a:r>
            <a:br/>
            <a:r>
              <a:t>• Embeddings</a:t>
            </a:r>
            <a:br/>
            <a:r>
              <a:t>• ChromaDB</a:t>
            </a:r>
            <a:br/>
            <a:r>
              <a:t>• Retrieved evidence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900" b="1">
                <a:solidFill>
                  <a:srgbClr val="FFFFFF"/>
                </a:solidFill>
                <a:latin typeface="Aptos"/>
              </a:defRPr>
            </a:pPr>
            <a:r>
              <a:t>09  Conclusion &amp; Future Work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512064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C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91639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1">
                <a:solidFill>
                  <a:srgbClr val="189791"/>
                </a:solidFill>
                <a:latin typeface="Aptos"/>
              </a:defRPr>
            </a:pPr>
            <a:r>
              <a:t>Current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103120"/>
            <a:ext cx="4663440" cy="28346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1E2D37"/>
                </a:solidFill>
                <a:latin typeface="Aptos"/>
              </a:defRPr>
            </a:pPr>
            <a:r>
              <a:t>• Document-grounded medical QA</a:t>
            </a:r>
            <a:br/>
            <a:r>
              <a:t>• Semantic retrieval</a:t>
            </a:r>
            <a:br/>
            <a:r>
              <a:t>• Top-K context selection</a:t>
            </a:r>
            <a:br/>
            <a:r>
              <a:t>• Two safety gates</a:t>
            </a:r>
            <a:br/>
            <a:r>
              <a:t>• Flask chat interface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1508760"/>
            <a:ext cx="512064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C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691639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1">
                <a:solidFill>
                  <a:srgbClr val="189791"/>
                </a:solidFill>
                <a:latin typeface="Aptos"/>
              </a:defRPr>
            </a:pPr>
            <a:r>
              <a:t>Future Improvements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103120"/>
            <a:ext cx="4663440" cy="28346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1E2D37"/>
                </a:solidFill>
                <a:latin typeface="Aptos"/>
              </a:defRPr>
            </a:pPr>
            <a:r>
              <a:t>• Source citations for every answer</a:t>
            </a:r>
            <a:br/>
            <a:r>
              <a:t>• OCR for scanned PDFs</a:t>
            </a:r>
            <a:br/>
            <a:r>
              <a:t>• Multilingual support</a:t>
            </a:r>
            <a:br/>
            <a:r>
              <a:t>• User authentication</a:t>
            </a:r>
            <a:br/>
            <a:r>
              <a:t>• Advanced reranking</a:t>
            </a:r>
            <a:br/>
            <a:r>
              <a:t>• Evaluation &amp; monitoring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62356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FFFFFF"/>
                </a:solidFill>
                <a:latin typeface="Aptos"/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